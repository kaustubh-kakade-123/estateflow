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xml" ContentType="application/xml"/>
  <Default Extension="jpeg" ContentType="image/jpeg"/>
  <Default Extension="rels" ContentType="application/vnd.openxmlformats-package.relationships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3.xml" ContentType="application/vnd.openxmlformats-officedocument.presentationml.slide+xml"/>
  <Override PartName="/docProps/core.xml" ContentType="application/vnd.openxmlformats-package.core-properties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0" orient="horz" pos="2160" userDrawn="1">
          <p15:clr>
            <a:srgbClr val="A4A3A4"/>
          </p15:clr>
        </p15:guide>
        <p15:guide id="1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tableStyles" Target="tableStyles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 noEditPoints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  <a:p>
            <a:endParaRPr lang="en-US"/>
          </a:p>
        </p:txBody>
      </p:sp>
      <p:sp>
        <p:nvSpPr>
          <p:cNvPr id="3" name="Date Placeholder 2"/>
          <p:cNvSpPr>
            <a:spLocks noGrp="1" noEditPoints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/>
          <a:p>
            <a:r>
              <a:rPr lang="en-US" smtClean="0"/>
              <a:t>*</a:t>
            </a:r>
            <a:endParaRPr lang="en-US"/>
          </a:p>
        </p:txBody>
      </p:sp>
      <p:sp>
        <p:nvSpPr>
          <p:cNvPr id="4" name="Slide Image Placeholder 3"/>
          <p:cNvSpPr>
            <a:spLocks noGrp="1" noRot="1" noChangeAspect="1" noEditPoints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  <a:p>
            <a:endParaRPr lang="en-US"/>
          </a:p>
        </p:txBody>
      </p:sp>
      <p:sp>
        <p:nvSpPr>
          <p:cNvPr id="5" name="Notes Placeholder 4"/>
          <p:cNvSpPr>
            <a:spLocks noGrp="1" noEditPoints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  <a:p>
            <a:endParaRPr lang="en-US"/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/>
          <a:p>
            <a:r>
              <a:rPr lang="en-US" smtClean="0"/>
              <a:t>#</a:t>
            </a: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 sldNum="0"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77" y="685800"/>
            <a:ext cx="6095847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7E7DB978-A384-4AAE-BB92-D040425EC1F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77" y="685800"/>
            <a:ext cx="6095847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5E822510-4B0A-4D2F-ADC1-AAA351E55E3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77" y="685800"/>
            <a:ext cx="6095847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3E28B072-630A-4538-85D9-A08EA0DD488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77" y="685800"/>
            <a:ext cx="6095847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C813DF5B-F967-4BBC-8B47-906C5A31632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77" y="685800"/>
            <a:ext cx="6095847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D95E3292-CA9C-4E9D-AC3B-7498EFFABA4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77" y="685800"/>
            <a:ext cx="6095847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4EFAEFB9-53E2-42D9-AAB4-AFFAE1D1F46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77" y="685800"/>
            <a:ext cx="6095847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B1E3BC33-3277-44F4-B5BD-46FBDDED2D0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77" y="685800"/>
            <a:ext cx="6095847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627F75CD-6808-408A-87D5-DEF9B59567C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77" y="685800"/>
            <a:ext cx="6095847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3EE49832-DEB7-4776-9135-8AFE4CE65DC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77" y="685800"/>
            <a:ext cx="6095847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E993DF52-942D-473B-8787-A1C035AEC37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77" y="685800"/>
            <a:ext cx="6095847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C68C320A-ADA5-4727-A0D9-AB1621E4EC0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77" y="685800"/>
            <a:ext cx="6095847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58B9D629-24E8-46CB-B6B2-AD5D373D849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 noEditPoint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 noEditPoints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 noEditPoints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 noEditPoints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 noEditPoints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 noEditPoints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 noEditPoints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 noEditPoints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 noEditPoints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 noEditPoints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 noEditPoints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 noEditPoints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 noEditPoints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 noEditPoints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 noEditPoints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sldNum="0" hdr="0" ftr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3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961120" y="0"/>
            <a:ext cx="3291840" cy="914400"/>
          </a:xfrm>
          <a:prstGeom prst="rect">
            <a:avLst/>
          </a:prstGeom>
          <a:solidFill>
            <a:srgbClr val="149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875520" y="5394960"/>
            <a:ext cx="2377440" cy="1463040"/>
          </a:xfrm>
          <a:prstGeom prst="rect">
            <a:avLst/>
          </a:prstGeom>
          <a:solidFill>
            <a:srgbClr val="E6A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3657600" cy="640080"/>
          </a:xfrm>
          <a:prstGeom prst="rect">
            <a:avLst/>
          </a:prstGeom>
          <a:solidFill>
            <a:srgbClr val="149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7169765" cy="16320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/>
              <a:t>REAL ESTATE</a:t>
            </a:r>
            <a:r>
              <a:rPr lang="en-IN" sz="3200"/>
              <a:t> </a:t>
            </a:r>
            <a:r>
              <a:rPr sz="3200"/>
              <a:t>SOFTWARE PROJECT</a:t>
            </a:r>
          </a:p>
          <a:p>
            <a:pPr>
              <a:spcBef>
                <a:spcPts val="1500"/>
              </a:spcBef>
            </a:pPr>
            <a:endParaRPr lang="en-IN"/>
          </a:p>
          <a:p>
            <a:pPr>
              <a:spcBef>
                <a:spcPts val="1500"/>
              </a:spcBef>
            </a:pPr>
            <a:r>
              <a:rPr sz="2400"/>
              <a:t>From Property Search → Lead → Site Visit → Conversion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t>01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The Big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43000"/>
            <a:ext cx="6274167" cy="3973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chemeClr val="tx1"/>
                </a:solidFill>
              </a:rPr>
              <a:t>Build a digital property marketplace — not just a website.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828800"/>
            <a:ext cx="73152" cy="3291840"/>
          </a:xfrm>
          <a:prstGeom prst="rect">
            <a:avLst/>
          </a:prstGeom>
          <a:solidFill>
            <a:srgbClr val="149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3423156" cy="1004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01  DISCOVER</a:t>
            </a:r>
          </a:p>
          <a:p>
            <a:pPr>
              <a:spcBef>
                <a:spcPts val="700"/>
              </a:spcBef>
            </a:pPr>
            <a:r>
              <a:rPr sz="1800"/>
              <a:t>Buyers find homes, offices, plots and projects  smart filters.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864872" y="1851660"/>
            <a:ext cx="73152" cy="3291840"/>
          </a:xfrm>
          <a:prstGeom prst="rect">
            <a:avLst/>
          </a:prstGeom>
          <a:solidFill>
            <a:srgbClr val="E6A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12684" y="2011680"/>
            <a:ext cx="2687809" cy="12786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02  CONNECT</a:t>
            </a:r>
          </a:p>
          <a:p>
            <a:pPr>
              <a:spcBef>
                <a:spcPts val="700"/>
              </a:spcBef>
            </a:pPr>
            <a:r>
              <a:rPr sz="1800"/>
              <a:t>Owners, agets and builders receive and manage enquiries.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92440" y="1828800"/>
            <a:ext cx="73152" cy="3291840"/>
          </a:xfrm>
          <a:prstGeom prst="rect">
            <a:avLst/>
          </a:prstGeom>
          <a:solidFill>
            <a:srgbClr val="149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2011680"/>
            <a:ext cx="3423156" cy="1004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03  CONERT</a:t>
            </a:r>
          </a:p>
          <a:p>
            <a:pPr>
              <a:spcBef>
                <a:spcPts val="700"/>
              </a:spcBef>
            </a:pPr>
            <a:r>
              <a:rPr sz="1800"/>
              <a:t>Site visits and follow-ups turn enquiries into real opportunities.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t>02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3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Who Uses the Platform?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43000"/>
            <a:ext cx="10424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Four business users + one control center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920240"/>
            <a:ext cx="73152" cy="2560320"/>
          </a:xfrm>
          <a:prstGeom prst="rect">
            <a:avLst/>
          </a:prstGeom>
          <a:solidFill>
            <a:srgbClr val="149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103120"/>
            <a:ext cx="1883663" cy="1364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BUYER</a:t>
            </a:r>
          </a:p>
          <a:p>
            <a:pPr marL="285750" indent="-285750">
              <a:spcBef>
                <a:spcPts val="700"/>
              </a:spcBef>
              <a:buFont typeface="Arial"/>
              <a:buChar char="•"/>
            </a:pPr>
            <a:r>
              <a:rPr sz="1600"/>
              <a:t>Search </a:t>
            </a:r>
            <a:endParaRPr lang="en-IN" sz="1600"/>
          </a:p>
          <a:p>
            <a:pPr marL="285750" indent="-285750">
              <a:spcBef>
                <a:spcPts val="700"/>
              </a:spcBef>
              <a:buFont typeface="Arial"/>
              <a:buChar char="•"/>
            </a:pPr>
            <a:r>
              <a:rPr sz="1600"/>
              <a:t>Shortlist </a:t>
            </a:r>
            <a:endParaRPr lang="en-IN" sz="1600"/>
          </a:p>
          <a:p>
            <a:pPr marL="285750" indent="-285750">
              <a:spcBef>
                <a:spcPts val="700"/>
              </a:spcBef>
              <a:buFont typeface="Arial"/>
              <a:buChar char="•"/>
            </a:pPr>
            <a:r>
              <a:rPr sz="1600"/>
              <a:t>Enquire</a:t>
            </a:r>
          </a:p>
        </p:txBody>
      </p:sp>
      <p:sp>
        <p:nvSpPr>
          <p:cNvPr id="8" name="Rectangle 7"/>
          <p:cNvSpPr/>
          <p:nvPr/>
        </p:nvSpPr>
        <p:spPr>
          <a:xfrm>
            <a:off x="2907791" y="1920240"/>
            <a:ext cx="73152" cy="2560320"/>
          </a:xfrm>
          <a:prstGeom prst="rect">
            <a:avLst/>
          </a:prstGeom>
          <a:solidFill>
            <a:srgbClr val="E6A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36391" y="2103120"/>
            <a:ext cx="2039113" cy="1364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OWNER</a:t>
            </a:r>
          </a:p>
          <a:p>
            <a:pPr marL="285750" indent="-285750">
              <a:spcBef>
                <a:spcPts val="700"/>
              </a:spcBef>
              <a:buFont typeface="Arial"/>
              <a:buChar char="•"/>
            </a:pPr>
            <a:r>
              <a:rPr sz="1600"/>
              <a:t>List </a:t>
            </a:r>
            <a:endParaRPr lang="en-IN" sz="1600"/>
          </a:p>
          <a:p>
            <a:pPr marL="285750" indent="-285750">
              <a:spcBef>
                <a:spcPts val="700"/>
              </a:spcBef>
              <a:buFont typeface="Arial"/>
              <a:buChar char="•"/>
            </a:pPr>
            <a:r>
              <a:rPr sz="1600"/>
              <a:t>Manage </a:t>
            </a:r>
            <a:endParaRPr lang="en-IN" sz="1600"/>
          </a:p>
          <a:p>
            <a:pPr marL="285750" indent="-285750">
              <a:spcBef>
                <a:spcPts val="700"/>
              </a:spcBef>
              <a:buFont typeface="Arial"/>
              <a:buChar char="•"/>
            </a:pPr>
            <a:r>
              <a:rPr sz="1600"/>
              <a:t>Respond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30952" y="1943099"/>
            <a:ext cx="73152" cy="2560320"/>
          </a:xfrm>
          <a:prstGeom prst="rect">
            <a:avLst/>
          </a:prstGeom>
          <a:solidFill>
            <a:srgbClr val="149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04104" y="2103120"/>
            <a:ext cx="2039113" cy="1364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AGENT</a:t>
            </a:r>
          </a:p>
          <a:p>
            <a:pPr marL="285750" indent="-285750">
              <a:spcBef>
                <a:spcPts val="700"/>
              </a:spcBef>
              <a:buFont typeface="Arial"/>
              <a:buChar char="•"/>
            </a:pPr>
            <a:r>
              <a:rPr sz="1600"/>
              <a:t>Leads </a:t>
            </a:r>
            <a:endParaRPr lang="en-IN" sz="1600"/>
          </a:p>
          <a:p>
            <a:pPr marL="285750" indent="-285750">
              <a:spcBef>
                <a:spcPts val="700"/>
              </a:spcBef>
              <a:buFont typeface="Arial"/>
              <a:buChar char="•"/>
            </a:pPr>
            <a:r>
              <a:rPr sz="1600"/>
              <a:t>Follow-ups </a:t>
            </a:r>
            <a:endParaRPr lang="en-IN" sz="1600"/>
          </a:p>
          <a:p>
            <a:pPr marL="285750" indent="-285750">
              <a:spcBef>
                <a:spcPts val="700"/>
              </a:spcBef>
              <a:buFont typeface="Arial"/>
              <a:buChar char="•"/>
            </a:pPr>
            <a:r>
              <a:rPr sz="1600"/>
              <a:t>Visits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43638" y="2010004"/>
            <a:ext cx="73152" cy="2560320"/>
          </a:xfrm>
          <a:prstGeom prst="rect">
            <a:avLst/>
          </a:prstGeom>
          <a:solidFill>
            <a:srgbClr val="E6A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35662" y="2103120"/>
            <a:ext cx="1490472" cy="1364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BUILDER</a:t>
            </a:r>
          </a:p>
          <a:p>
            <a:pPr marL="285750" indent="-285750">
              <a:spcBef>
                <a:spcPts val="700"/>
              </a:spcBef>
              <a:buFont typeface="Arial"/>
              <a:buChar char="•"/>
            </a:pPr>
            <a:r>
              <a:rPr sz="1600"/>
              <a:t>Projects</a:t>
            </a:r>
            <a:endParaRPr lang="en-IN" sz="1600"/>
          </a:p>
          <a:p>
            <a:pPr marL="285750" indent="-285750">
              <a:spcBef>
                <a:spcPts val="700"/>
              </a:spcBef>
              <a:buFont typeface="Arial"/>
              <a:buChar char="•"/>
            </a:pPr>
            <a:r>
              <a:rPr sz="1600"/>
              <a:t> Inventory </a:t>
            </a:r>
            <a:endParaRPr lang="en-IN" sz="1600"/>
          </a:p>
          <a:p>
            <a:pPr marL="285750" indent="-285750">
              <a:spcBef>
                <a:spcPts val="700"/>
              </a:spcBef>
              <a:buFont typeface="Arial"/>
              <a:buChar char="•"/>
            </a:pPr>
            <a:r>
              <a:rPr sz="1600"/>
              <a:t> Leads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710928" y="1920240"/>
            <a:ext cx="73152" cy="2560320"/>
          </a:xfrm>
          <a:prstGeom prst="rect">
            <a:avLst/>
          </a:prstGeom>
          <a:solidFill>
            <a:srgbClr val="149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39528" y="2103120"/>
            <a:ext cx="1490472" cy="1364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ADMIN</a:t>
            </a:r>
          </a:p>
          <a:p>
            <a:pPr marL="285750" indent="-285750">
              <a:spcBef>
                <a:spcPts val="700"/>
              </a:spcBef>
              <a:buFont typeface="Arial"/>
              <a:buChar char="•"/>
            </a:pPr>
            <a:r>
              <a:rPr sz="1600"/>
              <a:t>Verify </a:t>
            </a:r>
            <a:endParaRPr lang="en-IN" sz="1600"/>
          </a:p>
          <a:p>
            <a:pPr marL="285750" indent="-285750">
              <a:spcBef>
                <a:spcPts val="700"/>
              </a:spcBef>
              <a:buFont typeface="Arial"/>
              <a:buChar char="•"/>
            </a:pPr>
            <a:r>
              <a:rPr sz="1600"/>
              <a:t>Monitor </a:t>
            </a:r>
            <a:endParaRPr lang="en-IN" sz="1600"/>
          </a:p>
          <a:p>
            <a:pPr marL="285750" indent="-285750">
              <a:spcBef>
                <a:spcPts val="700"/>
              </a:spcBef>
              <a:buFont typeface="Arial"/>
              <a:buChar char="•"/>
            </a:pPr>
            <a:r>
              <a:rPr sz="1600"/>
              <a:t>Report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t>03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Inside the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43000"/>
            <a:ext cx="10424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Think of it as 8 connected engines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737360"/>
            <a:ext cx="24688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4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737360"/>
            <a:ext cx="73152" cy="1554480"/>
          </a:xfrm>
          <a:prstGeom prst="rect">
            <a:avLst/>
          </a:prstGeom>
          <a:solidFill>
            <a:srgbClr val="149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1" y="1920240"/>
            <a:ext cx="1447423" cy="699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>
                <a:solidFill>
                  <a:schemeClr val="tx1"/>
                </a:solidFill>
              </a:rPr>
              <a:t>01</a:t>
            </a:r>
          </a:p>
          <a:p>
            <a:pPr>
              <a:spcBef>
                <a:spcPts val="700"/>
              </a:spcBef>
            </a:pPr>
            <a:r>
              <a:rPr sz="1600" b="1">
                <a:solidFill>
                  <a:schemeClr val="tx1"/>
                </a:solidFill>
              </a:rPr>
              <a:t>Authentication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0441" y="1737360"/>
            <a:ext cx="24688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4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474720" y="1737360"/>
            <a:ext cx="73152" cy="1554480"/>
          </a:xfrm>
          <a:prstGeom prst="rect">
            <a:avLst/>
          </a:prstGeom>
          <a:solidFill>
            <a:srgbClr val="E6A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20" y="1920240"/>
            <a:ext cx="1533644" cy="699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>
                <a:solidFill>
                  <a:schemeClr val="tx1"/>
                </a:solidFill>
              </a:rPr>
              <a:t>02</a:t>
            </a:r>
          </a:p>
          <a:p>
            <a:pPr>
              <a:spcBef>
                <a:spcPts val="700"/>
              </a:spcBef>
            </a:pPr>
            <a:r>
              <a:rPr sz="1600" b="1">
                <a:solidFill>
                  <a:schemeClr val="tx1"/>
                </a:solidFill>
              </a:rPr>
              <a:t>Property Search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36792" y="1842426"/>
            <a:ext cx="24688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4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63640" y="1737360"/>
            <a:ext cx="73152" cy="1554480"/>
          </a:xfrm>
          <a:prstGeom prst="rect">
            <a:avLst/>
          </a:prstGeom>
          <a:solidFill>
            <a:srgbClr val="149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920240"/>
            <a:ext cx="805180" cy="699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>
                <a:solidFill>
                  <a:schemeClr val="tx1"/>
                </a:solidFill>
              </a:rPr>
              <a:t>03</a:t>
            </a:r>
          </a:p>
          <a:p>
            <a:pPr>
              <a:spcBef>
                <a:spcPts val="700"/>
              </a:spcBef>
            </a:pPr>
            <a:r>
              <a:rPr sz="1600" b="1">
                <a:solidFill>
                  <a:schemeClr val="tx1"/>
                </a:solidFill>
              </a:rPr>
              <a:t>Listings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98280" y="1737360"/>
            <a:ext cx="24688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4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solidFill>
                <a:schemeClr val="tx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052559" y="1737360"/>
            <a:ext cx="73152" cy="1554480"/>
          </a:xfrm>
          <a:prstGeom prst="rect">
            <a:avLst/>
          </a:prstGeom>
          <a:solidFill>
            <a:srgbClr val="E6A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81159" y="1920240"/>
            <a:ext cx="1603693" cy="699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>
                <a:solidFill>
                  <a:schemeClr val="tx1"/>
                </a:solidFill>
              </a:rPr>
              <a:t>04</a:t>
            </a:r>
          </a:p>
          <a:p>
            <a:pPr>
              <a:spcBef>
                <a:spcPts val="700"/>
              </a:spcBef>
            </a:pPr>
            <a:r>
              <a:rPr sz="1600" b="1">
                <a:solidFill>
                  <a:schemeClr val="tx1"/>
                </a:solidFill>
              </a:rPr>
              <a:t>Maps &amp; Location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703320"/>
            <a:ext cx="24688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4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solidFill>
                <a:schemeClr val="tx1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85800" y="3703320"/>
            <a:ext cx="73152" cy="1554480"/>
          </a:xfrm>
          <a:prstGeom prst="rect">
            <a:avLst/>
          </a:prstGeom>
          <a:solidFill>
            <a:srgbClr val="149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886200"/>
            <a:ext cx="1296114" cy="699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>
                <a:solidFill>
                  <a:schemeClr val="tx1"/>
                </a:solidFill>
              </a:rPr>
              <a:t>05</a:t>
            </a:r>
          </a:p>
          <a:p>
            <a:pPr>
              <a:spcBef>
                <a:spcPts val="700"/>
              </a:spcBef>
            </a:pPr>
            <a:r>
              <a:rPr sz="1600" b="1">
                <a:solidFill>
                  <a:schemeClr val="tx1"/>
                </a:solidFill>
              </a:rPr>
              <a:t>Leads &amp; CRM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74720" y="3703320"/>
            <a:ext cx="24688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4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solidFill>
                <a:schemeClr val="tx1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474720" y="3703320"/>
            <a:ext cx="73152" cy="1554480"/>
          </a:xfrm>
          <a:prstGeom prst="rect">
            <a:avLst/>
          </a:prstGeom>
          <a:solidFill>
            <a:srgbClr val="E6A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03320" y="3886200"/>
            <a:ext cx="1000046" cy="699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>
                <a:solidFill>
                  <a:schemeClr val="tx1"/>
                </a:solidFill>
              </a:rPr>
              <a:t>06</a:t>
            </a:r>
          </a:p>
          <a:p>
            <a:pPr>
              <a:spcBef>
                <a:spcPts val="700"/>
              </a:spcBef>
            </a:pPr>
            <a:r>
              <a:rPr sz="1600" b="1">
                <a:solidFill>
                  <a:schemeClr val="tx1"/>
                </a:solidFill>
              </a:rPr>
              <a:t>Site Visits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1" y="3703320"/>
            <a:ext cx="24688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4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solidFill>
                <a:schemeClr val="tx1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263640" y="3703320"/>
            <a:ext cx="73152" cy="1554480"/>
          </a:xfrm>
          <a:prstGeom prst="rect">
            <a:avLst/>
          </a:prstGeom>
          <a:solidFill>
            <a:srgbClr val="149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886200"/>
            <a:ext cx="863223" cy="699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>
                <a:solidFill>
                  <a:schemeClr val="tx1"/>
                </a:solidFill>
              </a:rPr>
              <a:t>07</a:t>
            </a:r>
          </a:p>
          <a:p>
            <a:pPr>
              <a:spcBef>
                <a:spcPts val="700"/>
              </a:spcBef>
            </a:pPr>
            <a:r>
              <a:rPr sz="1600" b="1">
                <a:solidFill>
                  <a:schemeClr val="tx1"/>
                </a:solidFill>
              </a:rPr>
              <a:t>Projects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52559" y="3703320"/>
            <a:ext cx="24688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4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52559" y="3703320"/>
            <a:ext cx="73152" cy="1554480"/>
          </a:xfrm>
          <a:prstGeom prst="rect">
            <a:avLst/>
          </a:prstGeom>
          <a:solidFill>
            <a:srgbClr val="E6A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81160" y="3886200"/>
            <a:ext cx="1633061" cy="699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>
                <a:solidFill>
                  <a:schemeClr val="tx1"/>
                </a:solidFill>
              </a:rPr>
              <a:t>08</a:t>
            </a:r>
          </a:p>
          <a:p>
            <a:pPr>
              <a:spcBef>
                <a:spcPts val="700"/>
              </a:spcBef>
            </a:pPr>
            <a:r>
              <a:rPr sz="1600" b="1">
                <a:solidFill>
                  <a:schemeClr val="tx1"/>
                </a:solidFill>
              </a:rPr>
              <a:t>Admin &amp; Reports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9848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t>04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3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The Customer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43000"/>
            <a:ext cx="10424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 simple journey with a powerful backend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377440"/>
            <a:ext cx="1325880" cy="1005840"/>
          </a:xfrm>
          <a:prstGeom prst="roundRect">
            <a:avLst/>
          </a:prstGeom>
          <a:solidFill>
            <a:srgbClr val="149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670048"/>
            <a:ext cx="1325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56232" y="2615184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67128" y="2377440"/>
            <a:ext cx="1325880" cy="1005840"/>
          </a:xfrm>
          <a:prstGeom prst="roundRect">
            <a:avLst/>
          </a:prstGeom>
          <a:solidFill>
            <a:srgbClr val="E6A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7128" y="2670048"/>
            <a:ext cx="1325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FILTER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2615184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31336" y="2377440"/>
            <a:ext cx="1325880" cy="1005840"/>
          </a:xfrm>
          <a:prstGeom prst="roundRect">
            <a:avLst/>
          </a:prstGeom>
          <a:solidFill>
            <a:srgbClr val="149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31336" y="2670048"/>
            <a:ext cx="1325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84648" y="2615184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95544" y="2377440"/>
            <a:ext cx="1325880" cy="1005840"/>
          </a:xfrm>
          <a:prstGeom prst="roundRect">
            <a:avLst/>
          </a:prstGeom>
          <a:solidFill>
            <a:srgbClr val="E6A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95544" y="2670048"/>
            <a:ext cx="1325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SHORTLIST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48856" y="2615184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59752" y="2377440"/>
            <a:ext cx="1325880" cy="1005840"/>
          </a:xfrm>
          <a:prstGeom prst="roundRect">
            <a:avLst/>
          </a:prstGeom>
          <a:solidFill>
            <a:srgbClr val="149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59752" y="2670048"/>
            <a:ext cx="1325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ENQUIRE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13064" y="2615184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23960" y="2377440"/>
            <a:ext cx="1325880" cy="1005840"/>
          </a:xfrm>
          <a:prstGeom prst="roundRect">
            <a:avLst/>
          </a:prstGeom>
          <a:solidFill>
            <a:srgbClr val="E6A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23960" y="2670048"/>
            <a:ext cx="1325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VISIT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77272" y="2615184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488168" y="2377440"/>
            <a:ext cx="1325880" cy="1005840"/>
          </a:xfrm>
          <a:prstGeom prst="roundRect">
            <a:avLst/>
          </a:prstGeom>
          <a:solidFill>
            <a:srgbClr val="149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88168" y="2670048"/>
            <a:ext cx="1325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FOLLOW-UP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834640" y="4160520"/>
            <a:ext cx="6583680" cy="1234440"/>
          </a:xfrm>
          <a:prstGeom prst="roundRect">
            <a:avLst/>
          </a:prstGeom>
          <a:solidFill>
            <a:srgbClr val="233448"/>
          </a:solidFill>
          <a:ln>
            <a:solidFill>
              <a:srgbClr val="E4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834640" y="4160520"/>
            <a:ext cx="73152" cy="1234440"/>
          </a:xfrm>
          <a:prstGeom prst="rect">
            <a:avLst/>
          </a:prstGeom>
          <a:solidFill>
            <a:srgbClr val="149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63240" y="4343400"/>
            <a:ext cx="6172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PRINCIPLE</a:t>
            </a:r>
          </a:p>
          <a:p>
            <a:pPr>
              <a:spcBef>
                <a:spcPts val="700"/>
              </a:spcBef>
            </a:pPr>
            <a:r>
              <a:t>Every customer action should create a clear, trackable business event.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t>05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Property Listing = The Core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43000"/>
            <a:ext cx="10424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Every listing must be rich, searchable and trustworthy.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91640"/>
            <a:ext cx="51663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4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691640"/>
            <a:ext cx="73152" cy="1691640"/>
          </a:xfrm>
          <a:prstGeom prst="rect">
            <a:avLst/>
          </a:prstGeom>
          <a:solidFill>
            <a:srgbClr val="149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74520"/>
            <a:ext cx="3610293" cy="699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PROPERTY</a:t>
            </a:r>
          </a:p>
          <a:p>
            <a:pPr>
              <a:spcBef>
                <a:spcPts val="700"/>
              </a:spcBef>
            </a:pPr>
            <a:r>
              <a:rPr sz="1600">
                <a:solidFill>
                  <a:schemeClr val="tx1"/>
                </a:solidFill>
              </a:rPr>
              <a:t>Type • Price • Area • Bedrooms • Parking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91640"/>
            <a:ext cx="51663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4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63640" y="1691640"/>
            <a:ext cx="73152" cy="1691640"/>
          </a:xfrm>
          <a:prstGeom prst="rect">
            <a:avLst/>
          </a:prstGeom>
          <a:solidFill>
            <a:srgbClr val="E6A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74520"/>
            <a:ext cx="3399353" cy="699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MEDIA</a:t>
            </a:r>
          </a:p>
          <a:p>
            <a:pPr>
              <a:spcBef>
                <a:spcPts val="700"/>
              </a:spcBef>
            </a:pPr>
            <a:r>
              <a:rPr sz="1600">
                <a:solidFill>
                  <a:schemeClr val="tx1"/>
                </a:solidFill>
              </a:rPr>
              <a:t>Photos • Video • Floor Plan • Brochure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840480"/>
            <a:ext cx="51663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4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3840480"/>
            <a:ext cx="73152" cy="1691640"/>
          </a:xfrm>
          <a:prstGeom prst="rect">
            <a:avLst/>
          </a:prstGeom>
          <a:solidFill>
            <a:srgbClr val="149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23360"/>
            <a:ext cx="3283565" cy="699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</a:t>
            </a:r>
          </a:p>
          <a:p>
            <a:pPr>
              <a:spcBef>
                <a:spcPts val="700"/>
              </a:spcBef>
            </a:pPr>
            <a:r>
              <a:rPr sz="1600">
                <a:solidFill>
                  <a:schemeClr val="tx1"/>
                </a:solidFill>
              </a:rPr>
              <a:t>Address • Locality • Map Coordinates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3840480"/>
            <a:ext cx="51663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4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3840480"/>
            <a:ext cx="73152" cy="1691640"/>
          </a:xfrm>
          <a:prstGeom prst="rect">
            <a:avLst/>
          </a:prstGeom>
          <a:solidFill>
            <a:srgbClr val="E6A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4023360"/>
            <a:ext cx="4118094" cy="699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TRUST</a:t>
            </a:r>
          </a:p>
          <a:p>
            <a:pPr>
              <a:spcBef>
                <a:spcPts val="700"/>
              </a:spcBef>
            </a:pPr>
            <a:r>
              <a:rPr sz="1600">
                <a:solidFill>
                  <a:schemeClr val="tx1"/>
                </a:solidFill>
              </a:rPr>
              <a:t>Owner/Agent • Verification • Project/RERA info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t>06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3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The Lead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43000"/>
            <a:ext cx="5603200" cy="36680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This is where the website becomes a real business system.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2336" y="2130552"/>
            <a:ext cx="1371600" cy="1143000"/>
          </a:xfrm>
          <a:prstGeom prst="roundRect">
            <a:avLst/>
          </a:prstGeom>
          <a:solidFill>
            <a:srgbClr val="14968C"/>
          </a:solidFill>
          <a:ln>
            <a:solidFill>
              <a:srgbClr val="149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5" name="TextBox 4"/>
          <p:cNvSpPr txBox="1"/>
          <p:nvPr/>
        </p:nvSpPr>
        <p:spPr>
          <a:xfrm>
            <a:off x="514451" y="2496312"/>
            <a:ext cx="1165658" cy="305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/>
              <a:t>PROPERTY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66544" y="2130552"/>
            <a:ext cx="1371600" cy="1143000"/>
          </a:xfrm>
          <a:prstGeom prst="roundRect">
            <a:avLst/>
          </a:prstGeom>
          <a:solidFill>
            <a:srgbClr val="304358"/>
          </a:solidFill>
          <a:ln>
            <a:solidFill>
              <a:srgbClr val="149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7" name="TextBox 6"/>
          <p:cNvSpPr txBox="1"/>
          <p:nvPr/>
        </p:nvSpPr>
        <p:spPr>
          <a:xfrm>
            <a:off x="2202425" y="2496312"/>
            <a:ext cx="1118126" cy="305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/>
              <a:t>ENQUIRY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30752" y="2130552"/>
            <a:ext cx="1371600" cy="1143000"/>
          </a:xfrm>
          <a:prstGeom prst="roundRect">
            <a:avLst/>
          </a:prstGeom>
          <a:solidFill>
            <a:srgbClr val="14968C"/>
          </a:solidFill>
          <a:ln>
            <a:solidFill>
              <a:srgbClr val="149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41643" y="2496312"/>
            <a:ext cx="968106" cy="305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/>
              <a:t>LEAD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94960" y="2130552"/>
            <a:ext cx="1371600" cy="1143000"/>
          </a:xfrm>
          <a:prstGeom prst="roundRect">
            <a:avLst/>
          </a:prstGeom>
          <a:solidFill>
            <a:srgbClr val="304358"/>
          </a:solidFill>
          <a:ln>
            <a:solidFill>
              <a:srgbClr val="149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1" name="TextBox 10"/>
          <p:cNvSpPr txBox="1"/>
          <p:nvPr/>
        </p:nvSpPr>
        <p:spPr>
          <a:xfrm>
            <a:off x="5514796" y="2478024"/>
            <a:ext cx="1131928" cy="305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/>
              <a:t>CONTACT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59168" y="2130552"/>
            <a:ext cx="1371600" cy="1143000"/>
          </a:xfrm>
          <a:prstGeom prst="roundRect">
            <a:avLst/>
          </a:prstGeom>
          <a:solidFill>
            <a:srgbClr val="14968C"/>
          </a:solidFill>
          <a:ln>
            <a:solidFill>
              <a:srgbClr val="149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3" name="TextBox 12"/>
          <p:cNvSpPr txBox="1"/>
          <p:nvPr/>
        </p:nvSpPr>
        <p:spPr>
          <a:xfrm>
            <a:off x="7176746" y="2478024"/>
            <a:ext cx="1136444" cy="305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/>
              <a:t>SITE VISIT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23375" y="2130552"/>
            <a:ext cx="1371600" cy="1143000"/>
          </a:xfrm>
          <a:prstGeom prst="roundRect">
            <a:avLst/>
          </a:prstGeom>
          <a:solidFill>
            <a:srgbClr val="304358"/>
          </a:solidFill>
          <a:ln>
            <a:solidFill>
              <a:srgbClr val="149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5" name="TextBox 14"/>
          <p:cNvSpPr txBox="1"/>
          <p:nvPr/>
        </p:nvSpPr>
        <p:spPr>
          <a:xfrm>
            <a:off x="8795874" y="2478024"/>
            <a:ext cx="1226602" cy="305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/>
              <a:t>FOLLOW-UP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387584" y="2130552"/>
            <a:ext cx="1371600" cy="1143000"/>
          </a:xfrm>
          <a:prstGeom prst="roundRect">
            <a:avLst/>
          </a:prstGeom>
          <a:solidFill>
            <a:srgbClr val="14968C"/>
          </a:solidFill>
          <a:ln>
            <a:solidFill>
              <a:srgbClr val="149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7" name="TextBox 16"/>
          <p:cNvSpPr txBox="1"/>
          <p:nvPr/>
        </p:nvSpPr>
        <p:spPr>
          <a:xfrm>
            <a:off x="10436708" y="2478024"/>
            <a:ext cx="1273352" cy="305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/>
              <a:t>CONVERSION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03120" y="3977639"/>
            <a:ext cx="73152" cy="1280160"/>
          </a:xfrm>
          <a:prstGeom prst="rect">
            <a:avLst/>
          </a:prstGeom>
          <a:solidFill>
            <a:srgbClr val="E6A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31720" y="4160520"/>
            <a:ext cx="8737855" cy="7300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INTERN DEVELOPER FOCUS</a:t>
            </a:r>
          </a:p>
          <a:p>
            <a:pPr>
              <a:spcBef>
                <a:spcPts val="700"/>
              </a:spcBef>
            </a:pPr>
            <a:r>
              <a:rPr sz="1800"/>
              <a:t>Build clean APIs and status transitions so every lead can be traced from enquiry to outcome.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t>07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The Admin Control Center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43000"/>
            <a:ext cx="10424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One dashboard to manage the entire marketplace.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91640"/>
            <a:ext cx="51663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4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691640"/>
            <a:ext cx="73152" cy="1691640"/>
          </a:xfrm>
          <a:prstGeom prst="rect">
            <a:avLst/>
          </a:prstGeom>
          <a:solidFill>
            <a:srgbClr val="149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74520"/>
            <a:ext cx="47548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USERS</a:t>
            </a:r>
          </a:p>
          <a:p>
            <a:pPr>
              <a:spcBef>
                <a:spcPts val="700"/>
              </a:spcBef>
            </a:pPr>
            <a:r>
              <a:t>Customers • Owners • Agents • Builders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91640"/>
            <a:ext cx="51663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4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63640" y="1691640"/>
            <a:ext cx="73152" cy="1691640"/>
          </a:xfrm>
          <a:prstGeom prst="rect">
            <a:avLst/>
          </a:prstGeom>
          <a:solidFill>
            <a:srgbClr val="149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74520"/>
            <a:ext cx="47548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PROPERTIES</a:t>
            </a:r>
          </a:p>
          <a:p>
            <a:pPr>
              <a:spcBef>
                <a:spcPts val="700"/>
              </a:spcBef>
            </a:pPr>
            <a:r>
              <a:t>Approve • Edit • Publish • Archive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840480"/>
            <a:ext cx="51663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4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3840480"/>
            <a:ext cx="73152" cy="1691640"/>
          </a:xfrm>
          <a:prstGeom prst="rect">
            <a:avLst/>
          </a:prstGeom>
          <a:solidFill>
            <a:srgbClr val="E6A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23360"/>
            <a:ext cx="47548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LEADS</a:t>
            </a:r>
          </a:p>
          <a:p>
            <a:pPr>
              <a:spcBef>
                <a:spcPts val="700"/>
              </a:spcBef>
            </a:pPr>
            <a:r>
              <a:t>Assign • Track • Follow-up • Close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3840480"/>
            <a:ext cx="51663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4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3840480"/>
            <a:ext cx="73152" cy="1691640"/>
          </a:xfrm>
          <a:prstGeom prst="rect">
            <a:avLst/>
          </a:prstGeom>
          <a:solidFill>
            <a:srgbClr val="E6A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4023360"/>
            <a:ext cx="47548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REPORTS</a:t>
            </a:r>
          </a:p>
          <a:p>
            <a:pPr>
              <a:spcBef>
                <a:spcPts val="700"/>
              </a:spcBef>
            </a:pPr>
            <a:r>
              <a:t>Listings • Enquiries • Visits •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t>08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3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How the Technology Fits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43000"/>
            <a:ext cx="10424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 modern, scalable full-stack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1600200"/>
            <a:ext cx="8503920" cy="777240"/>
          </a:xfrm>
          <a:prstGeom prst="roundRect">
            <a:avLst/>
          </a:prstGeom>
          <a:solidFill>
            <a:srgbClr val="233448"/>
          </a:solidFill>
          <a:ln>
            <a:solidFill>
              <a:srgbClr val="E4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0" y="1600200"/>
            <a:ext cx="73152" cy="777240"/>
          </a:xfrm>
          <a:prstGeom prst="rect">
            <a:avLst/>
          </a:prstGeom>
          <a:solidFill>
            <a:srgbClr val="149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57400" y="1783080"/>
            <a:ext cx="8092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FRONTEND</a:t>
            </a:r>
          </a:p>
          <a:p>
            <a:pPr>
              <a:spcBef>
                <a:spcPts val="700"/>
              </a:spcBef>
            </a:pPr>
            <a:r>
              <a:t>Next.js • React • TypeScript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2651760"/>
            <a:ext cx="8503920" cy="777240"/>
          </a:xfrm>
          <a:prstGeom prst="roundRect">
            <a:avLst/>
          </a:prstGeom>
          <a:solidFill>
            <a:srgbClr val="233448"/>
          </a:solidFill>
          <a:ln>
            <a:solidFill>
              <a:srgbClr val="E4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0" y="2651760"/>
            <a:ext cx="73152" cy="777240"/>
          </a:xfrm>
          <a:prstGeom prst="rect">
            <a:avLst/>
          </a:prstGeom>
          <a:solidFill>
            <a:srgbClr val="E6A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2834640"/>
            <a:ext cx="8092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API / BACKEND</a:t>
            </a:r>
          </a:p>
          <a:p>
            <a:pPr>
              <a:spcBef>
                <a:spcPts val="700"/>
              </a:spcBef>
            </a:pPr>
            <a:r>
              <a:t>Node.js • NestJS • REST APIs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3703320"/>
            <a:ext cx="8503920" cy="777240"/>
          </a:xfrm>
          <a:prstGeom prst="roundRect">
            <a:avLst/>
          </a:prstGeom>
          <a:solidFill>
            <a:srgbClr val="233448"/>
          </a:solidFill>
          <a:ln>
            <a:solidFill>
              <a:srgbClr val="E4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28800" y="3703320"/>
            <a:ext cx="73152" cy="777240"/>
          </a:xfrm>
          <a:prstGeom prst="rect">
            <a:avLst/>
          </a:prstGeom>
          <a:solidFill>
            <a:srgbClr val="149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57400" y="3886200"/>
            <a:ext cx="8092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DATA</a:t>
            </a:r>
          </a:p>
          <a:p>
            <a:pPr>
              <a:spcBef>
                <a:spcPts val="700"/>
              </a:spcBef>
            </a:pPr>
            <a:r>
              <a:t>PostgreSQL • Redis • Search Engine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28800" y="4754879"/>
            <a:ext cx="8503920" cy="777240"/>
          </a:xfrm>
          <a:prstGeom prst="roundRect">
            <a:avLst/>
          </a:prstGeom>
          <a:solidFill>
            <a:srgbClr val="233448"/>
          </a:solidFill>
          <a:ln>
            <a:solidFill>
              <a:srgbClr val="E4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828800" y="4754879"/>
            <a:ext cx="73152" cy="777240"/>
          </a:xfrm>
          <a:prstGeom prst="rect">
            <a:avLst/>
          </a:prstGeom>
          <a:solidFill>
            <a:srgbClr val="E6A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57400" y="4937759"/>
            <a:ext cx="8092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SERVICES</a:t>
            </a:r>
          </a:p>
          <a:p>
            <a:pPr>
              <a:spcBef>
                <a:spcPts val="700"/>
              </a:spcBef>
            </a:pPr>
            <a:r>
              <a:t>Maps • Storage • Payments • Notifications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t>09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Intern Development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43000"/>
            <a:ext cx="10424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Learn by building — each phase produces something usable.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4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73152" cy="1691640"/>
          </a:xfrm>
          <a:prstGeom prst="rect">
            <a:avLst/>
          </a:prstGeom>
          <a:solidFill>
            <a:srgbClr val="149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2971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01  UNDERSTAND</a:t>
            </a:r>
          </a:p>
          <a:p>
            <a:pPr>
              <a:spcBef>
                <a:spcPts val="700"/>
              </a:spcBef>
            </a:pPr>
            <a:r>
              <a:t>Requirements + user flows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600200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4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34840" y="1600200"/>
            <a:ext cx="73152" cy="1691640"/>
          </a:xfrm>
          <a:prstGeom prst="rect">
            <a:avLst/>
          </a:prstGeom>
          <a:solidFill>
            <a:srgbClr val="E6A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783080"/>
            <a:ext cx="2971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02  DESIGN</a:t>
            </a:r>
          </a:p>
          <a:p>
            <a:pPr>
              <a:spcBef>
                <a:spcPts val="700"/>
              </a:spcBef>
            </a:pPr>
            <a:r>
              <a:t>UI + database + API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00200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4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1600200"/>
            <a:ext cx="73152" cy="1691640"/>
          </a:xfrm>
          <a:prstGeom prst="rect">
            <a:avLst/>
          </a:prstGeom>
          <a:solidFill>
            <a:srgbClr val="149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58200" y="1783080"/>
            <a:ext cx="2971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03  BUILD</a:t>
            </a:r>
          </a:p>
          <a:p>
            <a:pPr>
              <a:spcBef>
                <a:spcPts val="700"/>
              </a:spcBef>
            </a:pPr>
            <a:r>
              <a:t>Frontend + backend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749039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4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749039"/>
            <a:ext cx="73152" cy="1691640"/>
          </a:xfrm>
          <a:prstGeom prst="rect">
            <a:avLst/>
          </a:prstGeom>
          <a:solidFill>
            <a:srgbClr val="E6A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931920"/>
            <a:ext cx="2971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04  INTEGRATE</a:t>
            </a:r>
          </a:p>
          <a:p>
            <a:pPr>
              <a:spcBef>
                <a:spcPts val="700"/>
              </a:spcBef>
            </a:pPr>
            <a:r>
              <a:t>Modules + APIs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3749039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4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34840" y="3749039"/>
            <a:ext cx="73152" cy="1691640"/>
          </a:xfrm>
          <a:prstGeom prst="rect">
            <a:avLst/>
          </a:prstGeom>
          <a:solidFill>
            <a:srgbClr val="149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0" y="3931920"/>
            <a:ext cx="2971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05  TEST</a:t>
            </a:r>
          </a:p>
          <a:p>
            <a:pPr>
              <a:spcBef>
                <a:spcPts val="700"/>
              </a:spcBef>
            </a:pPr>
            <a:r>
              <a:t>QA + bug fixing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3749039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4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3749039"/>
            <a:ext cx="73152" cy="1691640"/>
          </a:xfrm>
          <a:prstGeom prst="rect">
            <a:avLst/>
          </a:prstGeom>
          <a:solidFill>
            <a:srgbClr val="E6A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58200" y="3931920"/>
            <a:ext cx="2971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06  DELIVER</a:t>
            </a:r>
          </a:p>
          <a:p>
            <a:pPr>
              <a:spcBef>
                <a:spcPts val="700"/>
              </a:spcBef>
            </a:pPr>
            <a:r>
              <a:t>Documentation + demo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3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What We Expect From the Intern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43000"/>
            <a:ext cx="10424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Professional development habits are part of the project.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91640"/>
            <a:ext cx="5166360" cy="1691640"/>
          </a:xfrm>
          <a:prstGeom prst="roundRect">
            <a:avLst/>
          </a:prstGeom>
          <a:solidFill>
            <a:srgbClr val="233448"/>
          </a:solidFill>
          <a:ln>
            <a:solidFill>
              <a:srgbClr val="E4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691640"/>
            <a:ext cx="73152" cy="1691640"/>
          </a:xfrm>
          <a:prstGeom prst="rect">
            <a:avLst/>
          </a:prstGeom>
          <a:solidFill>
            <a:srgbClr val="149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74520"/>
            <a:ext cx="47548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CODE</a:t>
            </a:r>
          </a:p>
          <a:p>
            <a:pPr>
              <a:spcBef>
                <a:spcPts val="700"/>
              </a:spcBef>
            </a:pPr>
            <a:r>
              <a:t>Readable, modular and reusable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91640"/>
            <a:ext cx="5166360" cy="1691640"/>
          </a:xfrm>
          <a:prstGeom prst="roundRect">
            <a:avLst/>
          </a:prstGeom>
          <a:solidFill>
            <a:srgbClr val="233448"/>
          </a:solidFill>
          <a:ln>
            <a:solidFill>
              <a:srgbClr val="E4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63640" y="1691640"/>
            <a:ext cx="73152" cy="1691640"/>
          </a:xfrm>
          <a:prstGeom prst="rect">
            <a:avLst/>
          </a:prstGeom>
          <a:solidFill>
            <a:srgbClr val="E6A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74520"/>
            <a:ext cx="47548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GIT</a:t>
            </a:r>
          </a:p>
          <a:p>
            <a:pPr>
              <a:spcBef>
                <a:spcPts val="700"/>
              </a:spcBef>
            </a:pPr>
            <a:r>
              <a:t>Branches • commits • pull requests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840480"/>
            <a:ext cx="5166360" cy="1691640"/>
          </a:xfrm>
          <a:prstGeom prst="roundRect">
            <a:avLst/>
          </a:prstGeom>
          <a:solidFill>
            <a:srgbClr val="233448"/>
          </a:solidFill>
          <a:ln>
            <a:solidFill>
              <a:srgbClr val="E4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3840480"/>
            <a:ext cx="73152" cy="1691640"/>
          </a:xfrm>
          <a:prstGeom prst="rect">
            <a:avLst/>
          </a:prstGeom>
          <a:solidFill>
            <a:srgbClr val="149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23360"/>
            <a:ext cx="47548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QUALITY</a:t>
            </a:r>
          </a:p>
          <a:p>
            <a:pPr>
              <a:spcBef>
                <a:spcPts val="700"/>
              </a:spcBef>
            </a:pPr>
            <a:r>
              <a:t>Validation • error handling • testing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3840480"/>
            <a:ext cx="5166360" cy="1691640"/>
          </a:xfrm>
          <a:prstGeom prst="roundRect">
            <a:avLst/>
          </a:prstGeom>
          <a:solidFill>
            <a:srgbClr val="233448"/>
          </a:solidFill>
          <a:ln>
            <a:solidFill>
              <a:srgbClr val="E4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3840480"/>
            <a:ext cx="73152" cy="1691640"/>
          </a:xfrm>
          <a:prstGeom prst="rect">
            <a:avLst/>
          </a:prstGeom>
          <a:solidFill>
            <a:srgbClr val="E6A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4023360"/>
            <a:ext cx="47548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TEAMWORK</a:t>
            </a:r>
          </a:p>
          <a:p>
            <a:pPr>
              <a:spcBef>
                <a:spcPts val="700"/>
              </a:spcBef>
            </a:pPr>
            <a:r>
              <a:t>Daily updates • reviews • documentation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097280"/>
            <a:ext cx="10789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LET'S BUILD IT.</a:t>
            </a:r>
          </a:p>
          <a:p>
            <a:pPr>
              <a:spcBef>
                <a:spcPts val="1000"/>
              </a:spcBef>
            </a:pPr>
            <a:r>
              <a:t>From an idea → to a working real-estate product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3657600"/>
            <a:ext cx="310896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4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3657600"/>
            <a:ext cx="73152" cy="1463040"/>
          </a:xfrm>
          <a:prstGeom prst="rect">
            <a:avLst/>
          </a:prstGeom>
          <a:solidFill>
            <a:srgbClr val="149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840480"/>
            <a:ext cx="2697479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YOUR MISSION</a:t>
            </a:r>
          </a:p>
          <a:p>
            <a:pPr>
              <a:spcBef>
                <a:spcPts val="700"/>
              </a:spcBef>
            </a:pPr>
            <a:r>
              <a:t>Understand the problem.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26280" y="3657600"/>
            <a:ext cx="310896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4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26280" y="3657600"/>
            <a:ext cx="73152" cy="1463040"/>
          </a:xfrm>
          <a:prstGeom prst="rect">
            <a:avLst/>
          </a:prstGeom>
          <a:solidFill>
            <a:srgbClr val="E6A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3840480"/>
            <a:ext cx="2697479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YOUR WORK</a:t>
            </a:r>
          </a:p>
          <a:p>
            <a:pPr>
              <a:spcBef>
                <a:spcPts val="700"/>
              </a:spcBef>
            </a:pPr>
            <a:r>
              <a:t>Build the solution.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3657600"/>
            <a:ext cx="310896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4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38160" y="3657600"/>
            <a:ext cx="73152" cy="1463040"/>
          </a:xfrm>
          <a:prstGeom prst="rect">
            <a:avLst/>
          </a:prstGeom>
          <a:solidFill>
            <a:srgbClr val="149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3840480"/>
            <a:ext cx="2697479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YOUR RESULT</a:t>
            </a:r>
          </a:p>
          <a:p>
            <a:pPr>
              <a:spcBef>
                <a:spcPts val="700"/>
              </a:spcBef>
            </a:pPr>
            <a:r>
              <a:t>Ship a working module.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Notes Theme">
  <a:themeElements>
    <a:clrScheme name="Office Notes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Notes Them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 Notes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1"/>
        </a:gradFill>
      </a:fillStyleLst>
      <a:lnStyleLst>
        <a:ln w="9525" cap="flat" cmpd="sng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>
          <a:solidFill>
            <a:schemeClr val="phClr"/>
          </a:solidFill>
          <a:prstDash val="solid"/>
        </a:ln>
        <a:ln w="38100" cap="flat" cmpd="sng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Aditi Kunjir</cp:lastModifiedBy>
  <cp:revision>1</cp:revision>
  <dcterms:created xsi:type="dcterms:W3CDTF">2013-01-27T09:14:16Z</dcterms:created>
  <dcterms:modified xsi:type="dcterms:W3CDTF">2026-10-03T07:37:31Z</dcterms:modified>
  <cp:category/>
</cp:coreProperties>
</file>